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charset="1" panose="020B0604020202020204"/>
      <p:regular r:id="rId21"/>
    </p:embeddedFont>
    <p:embeddedFont>
      <p:font typeface="Noto Sans" charset="1" panose="020B0502040504020204"/>
      <p:regular r:id="rId22"/>
    </p:embeddedFont>
    <p:embeddedFont>
      <p:font typeface="Arimo Bold" charset="1" panose="020B0704020202020204"/>
      <p:regular r:id="rId25"/>
    </p:embeddedFont>
    <p:embeddedFont>
      <p:font typeface="Noto Sans Bold" charset="1" panose="020B0802040504020204"/>
      <p:regular r:id="rId28"/>
    </p:embeddedFon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  <p:embeddedFont>
      <p:font typeface="Graduate" charset="1" panose="0200050300000002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4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3534070"/>
            <a:ext cx="9445523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Philips: Innovation And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70264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 global leader in health technology, transforming lives through meaningful innovation and cutting-edge solutions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913809" y="588584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2"/>
                </a:lnTo>
                <a:lnTo>
                  <a:pt x="0" y="8802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4348" y="531019"/>
            <a:ext cx="11411245" cy="68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From Light Bulbs to Life-Saving Technology</a:t>
            </a:r>
          </a:p>
        </p:txBody>
      </p:sp>
      <p:sp>
        <p:nvSpPr>
          <p:cNvPr name="AutoShape 4" id="4"/>
          <p:cNvSpPr/>
          <p:nvPr/>
        </p:nvSpPr>
        <p:spPr>
          <a:xfrm flipH="true" flipV="true">
            <a:off x="9163050" y="2005211"/>
            <a:ext cx="859" cy="641109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9149668" y="2005211"/>
            <a:ext cx="1375478" cy="181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" id="6"/>
          <p:cNvSpPr txBox="true"/>
          <p:nvPr/>
        </p:nvSpPr>
        <p:spPr>
          <a:xfrm rot="0">
            <a:off x="9470496" y="1397843"/>
            <a:ext cx="653415" cy="37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sz="23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1891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11148" y="1562943"/>
            <a:ext cx="7051047" cy="209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8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Beginning 💡</a:t>
            </a:r>
          </a:p>
          <a:p>
            <a:pPr algn="l">
              <a:lnSpc>
                <a:spcPts val="3269"/>
              </a:lnSpc>
              <a:spcBef>
                <a:spcPct val="0"/>
              </a:spcBef>
            </a:pPr>
            <a:r>
              <a:rPr lang="en-US" sz="26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“Founded in </a:t>
            </a:r>
            <a:r>
              <a:rPr lang="en-US" sz="26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Netherlands by Gerard Philips and his father Frederik Philips.The goal was simple but powerful — make reliable products using innovation.”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7706173" y="3036078"/>
            <a:ext cx="1457129" cy="2721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881242" y="2438105"/>
            <a:ext cx="6611985" cy="209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5"/>
              </a:lnSpc>
              <a:spcBef>
                <a:spcPct val="0"/>
              </a:spcBef>
            </a:pPr>
            <a:r>
              <a:rPr lang="en-US" sz="2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</a:t>
            </a:r>
            <a:r>
              <a:rPr lang="en-US" sz="2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ower of Research 🔬</a:t>
            </a:r>
          </a:p>
          <a:p>
            <a:pPr algn="r">
              <a:lnSpc>
                <a:spcPts val="3247"/>
              </a:lnSpc>
              <a:spcBef>
                <a:spcPct val="0"/>
              </a:spcBef>
            </a:pPr>
            <a:r>
              <a:rPr lang="en-US" sz="26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“Very early on, Philips invested in research by creating the NatLab. This decision shaped its future and led to breakthroughs like X-ray technology.”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163658" y="4746055"/>
            <a:ext cx="1375478" cy="181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10811148" y="3898129"/>
            <a:ext cx="6819346" cy="209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Everywhere in H</a:t>
            </a: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omes 📻📺</a:t>
            </a:r>
          </a:p>
          <a:p>
            <a:pPr algn="l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“Philips entered everyday life through radios, electric shavers, televisions, and even invented the compact cassette, changing how the world consumed music.”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4735" y="3625266"/>
            <a:ext cx="2355788" cy="83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1930s–</a:t>
            </a:r>
          </a:p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1970s</a:t>
            </a:r>
          </a:p>
        </p:txBody>
      </p:sp>
      <p:sp>
        <p:nvSpPr>
          <p:cNvPr name="AutoShape 13" id="13"/>
          <p:cNvSpPr/>
          <p:nvPr/>
        </p:nvSpPr>
        <p:spPr>
          <a:xfrm flipH="true">
            <a:off x="7814455" y="5989987"/>
            <a:ext cx="134895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761509" y="5114925"/>
            <a:ext cx="6851453" cy="209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7"/>
              </a:lnSpc>
              <a:spcBef>
                <a:spcPct val="0"/>
              </a:spcBef>
            </a:pP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Strategic T</a:t>
            </a: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urning Point 🔄</a:t>
            </a:r>
          </a:p>
          <a:p>
            <a:pPr algn="r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“As technology evolved, Philips made a bold move — it slowly exited many consumer electronics and focused more on healthcare and medicalsolutions.”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12987" y="4929770"/>
            <a:ext cx="1093827" cy="83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1980s–</a:t>
            </a:r>
          </a:p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2000s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8180" y="2438105"/>
            <a:ext cx="1093827" cy="42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1914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9149920" y="7486898"/>
            <a:ext cx="1375478" cy="181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10811148" y="6780562"/>
            <a:ext cx="7254815" cy="168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F</a:t>
            </a: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ocused Identity 🏥</a:t>
            </a:r>
          </a:p>
          <a:p>
            <a:pPr algn="l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“Philips sold off lighting and other divisions and fully committed to health technology, including imaging systems and patient monitoring.”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09464" y="6779121"/>
            <a:ext cx="1426329" cy="42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2010s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7812987" y="8416307"/>
            <a:ext cx="1351027" cy="4653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7996119"/>
            <a:ext cx="6411679" cy="168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7"/>
              </a:lnSpc>
              <a:spcBef>
                <a:spcPct val="0"/>
              </a:spcBef>
            </a:pP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Gl</a:t>
            </a:r>
            <a:r>
              <a:rPr lang="en-US" sz="28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obal Health Tech Leader 🌍</a:t>
            </a:r>
          </a:p>
          <a:p>
            <a:pPr algn="r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“Today, Philips improves billions of lives through medical technology, diagnostics, and connected healthcare systems.”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06173" y="7990859"/>
            <a:ext cx="1457840" cy="42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oday –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0800" y="1246304"/>
            <a:ext cx="14557181" cy="794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9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Headed by </a:t>
            </a: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-   Roy Jakobs (CEO)</a:t>
            </a:r>
          </a:p>
          <a:p>
            <a:pPr algn="just">
              <a:lnSpc>
                <a:spcPts val="3729"/>
              </a:lnSpc>
            </a:pPr>
          </a:p>
          <a:p>
            <a:pPr algn="just">
              <a:lnSpc>
                <a:spcPts val="3729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Supported by</a:t>
            </a: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- Executive Management Committee</a:t>
            </a:r>
          </a:p>
          <a:p>
            <a:pPr algn="just">
              <a:lnSpc>
                <a:spcPts val="3729"/>
              </a:lnSpc>
            </a:pPr>
          </a:p>
          <a:p>
            <a:pPr algn="just">
              <a:lnSpc>
                <a:spcPts val="3729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Operations are divided into three Core Business: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Diagnostic and Treatment - MRI,CT,X-ray Systems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Connected Care - Patient Monitoring and digital health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Personal Health - Consumer health and wellness products</a:t>
            </a:r>
          </a:p>
          <a:p>
            <a:pPr algn="just">
              <a:lnSpc>
                <a:spcPts val="3729"/>
              </a:lnSpc>
            </a:pPr>
          </a:p>
          <a:p>
            <a:pPr algn="just">
              <a:lnSpc>
                <a:spcPts val="3729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Common Supportive Functions: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Marketing &amp; Sales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Finance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Human Resource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 &amp; Digital</a:t>
            </a:r>
          </a:p>
          <a:p>
            <a:pPr algn="just" marL="647700" indent="-323850" lvl="1">
              <a:lnSpc>
                <a:spcPts val="372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Legal &amp; Compliance</a:t>
            </a:r>
          </a:p>
          <a:p>
            <a:pPr algn="just">
              <a:lnSpc>
                <a:spcPts val="3729"/>
              </a:lnSpc>
            </a:pPr>
          </a:p>
          <a:p>
            <a:pPr algn="just">
              <a:lnSpc>
                <a:spcPts val="3729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Operated Globally across North America , Europe and Asia - Pacific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16309" y="2034940"/>
            <a:ext cx="4501956" cy="5677453"/>
          </a:xfrm>
          <a:custGeom>
            <a:avLst/>
            <a:gdLst/>
            <a:ahLst/>
            <a:cxnLst/>
            <a:rect r="r" b="b" t="t" l="l"/>
            <a:pathLst>
              <a:path h="5677453" w="4501956">
                <a:moveTo>
                  <a:pt x="0" y="0"/>
                </a:moveTo>
                <a:lnTo>
                  <a:pt x="4501956" y="0"/>
                </a:lnTo>
                <a:lnTo>
                  <a:pt x="4501956" y="5677453"/>
                </a:lnTo>
                <a:lnTo>
                  <a:pt x="0" y="5677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007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57101" y="479582"/>
            <a:ext cx="6773798" cy="6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2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Organizational Structure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0634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72023" y="790500"/>
            <a:ext cx="7067193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Products and Services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2507389"/>
            <a:ext cx="5662136" cy="47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 PROFESSIONAL HEALTH (B2B)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2023" y="3578116"/>
            <a:ext cx="9528051" cy="389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345" indent="-348172" lvl="1">
              <a:lnSpc>
                <a:spcPts val="5250"/>
              </a:lnSpc>
              <a:buFont typeface="Arial"/>
              <a:buChar char="•"/>
            </a:pPr>
            <a:r>
              <a:rPr lang="en-US" sz="32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</a:t>
            </a:r>
            <a:r>
              <a:rPr lang="en-US" sz="32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iagnostic Imaging</a:t>
            </a:r>
          </a:p>
          <a:p>
            <a:pPr algn="l" marL="696345" indent="-348172" lvl="1">
              <a:lnSpc>
                <a:spcPts val="5250"/>
              </a:lnSpc>
              <a:buFont typeface="Arial"/>
              <a:buChar char="•"/>
            </a:pPr>
            <a:r>
              <a:rPr lang="en-US" sz="32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Image-Guided Therapy</a:t>
            </a:r>
          </a:p>
          <a:p>
            <a:pPr algn="l" marL="696345" indent="-348172" lvl="1">
              <a:lnSpc>
                <a:spcPts val="5250"/>
              </a:lnSpc>
              <a:buFont typeface="Arial"/>
              <a:buChar char="•"/>
            </a:pPr>
            <a:r>
              <a:rPr lang="en-US" sz="32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Enterprise Informatics</a:t>
            </a:r>
          </a:p>
          <a:p>
            <a:pPr algn="l" marL="696345" indent="-348172" lvl="1">
              <a:lnSpc>
                <a:spcPts val="5250"/>
              </a:lnSpc>
              <a:buFont typeface="Arial"/>
              <a:buChar char="•"/>
            </a:pPr>
            <a:r>
              <a:rPr lang="en-US" sz="32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Connected Care</a:t>
            </a:r>
          </a:p>
          <a:p>
            <a:pPr algn="l" marL="696345" indent="-348172" lvl="1">
              <a:lnSpc>
                <a:spcPts val="5252"/>
              </a:lnSpc>
              <a:buFont typeface="Arial"/>
              <a:buChar char="•"/>
            </a:pPr>
            <a:r>
              <a:rPr lang="en-US" sz="32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Managed Services</a:t>
            </a:r>
          </a:p>
          <a:p>
            <a:pPr algn="l">
              <a:lnSpc>
                <a:spcPts val="525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240816" y="2507389"/>
            <a:ext cx="7056954" cy="47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PERSONAL HEALTH &amp; SERVICES (B2C)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0816" y="3606691"/>
            <a:ext cx="8117415" cy="386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2920" indent="-296460" lvl="1">
              <a:lnSpc>
                <a:spcPts val="4470"/>
              </a:lnSpc>
              <a:buFont typeface="Arial"/>
              <a:buChar char="•"/>
            </a:pPr>
            <a:r>
              <a:rPr lang="en-US" sz="274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Oral H</a:t>
            </a:r>
            <a:r>
              <a:rPr lang="en-US" sz="274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ealthcare</a:t>
            </a:r>
          </a:p>
          <a:p>
            <a:pPr algn="l" marL="592920" indent="-296460" lvl="1">
              <a:lnSpc>
                <a:spcPts val="4470"/>
              </a:lnSpc>
              <a:buFont typeface="Arial"/>
              <a:buChar char="•"/>
            </a:pPr>
            <a:r>
              <a:rPr lang="en-US" sz="274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Personal Care &amp; Grooming</a:t>
            </a:r>
          </a:p>
          <a:p>
            <a:pPr algn="l" marL="592920" indent="-296460" lvl="1">
              <a:lnSpc>
                <a:spcPts val="4470"/>
              </a:lnSpc>
              <a:buFont typeface="Arial"/>
              <a:buChar char="•"/>
            </a:pPr>
            <a:r>
              <a:rPr lang="en-US" sz="274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Mother &amp; Child Care</a:t>
            </a:r>
          </a:p>
          <a:p>
            <a:pPr algn="l" marL="592920" indent="-296460" lvl="1">
              <a:lnSpc>
                <a:spcPts val="4470"/>
              </a:lnSpc>
              <a:buFont typeface="Arial"/>
              <a:buChar char="•"/>
            </a:pPr>
            <a:r>
              <a:rPr lang="en-US" sz="274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Household Appliances</a:t>
            </a:r>
          </a:p>
          <a:p>
            <a:pPr algn="l" marL="592920" indent="-296460" lvl="1">
              <a:lnSpc>
                <a:spcPts val="4470"/>
              </a:lnSpc>
              <a:buFont typeface="Arial"/>
              <a:buChar char="•"/>
            </a:pPr>
            <a:r>
              <a:rPr lang="en-US" sz="274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Consumer Lighting</a:t>
            </a:r>
          </a:p>
          <a:p>
            <a:pPr algn="l" marL="592920" indent="-296460" lvl="1">
              <a:lnSpc>
                <a:spcPts val="4472"/>
              </a:lnSpc>
              <a:buFont typeface="Arial"/>
              <a:buChar char="•"/>
            </a:pPr>
            <a:r>
              <a:rPr lang="en-US" sz="274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Managed Services</a:t>
            </a:r>
          </a:p>
          <a:p>
            <a:pPr algn="l">
              <a:lnSpc>
                <a:spcPts val="447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870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527895"/>
            <a:ext cx="13319227" cy="79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Technology Powering Healthcare Innovation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8227" y="1943548"/>
            <a:ext cx="3910460" cy="48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Current Technologies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828227" y="2691403"/>
            <a:ext cx="591588" cy="591588"/>
          </a:xfrm>
          <a:custGeom>
            <a:avLst/>
            <a:gdLst/>
            <a:ahLst/>
            <a:cxnLst/>
            <a:rect r="r" b="b" t="t" l="l"/>
            <a:pathLst>
              <a:path h="591588" w="591588">
                <a:moveTo>
                  <a:pt x="0" y="0"/>
                </a:moveTo>
                <a:lnTo>
                  <a:pt x="591589" y="0"/>
                </a:lnTo>
                <a:lnTo>
                  <a:pt x="591589" y="591588"/>
                </a:lnTo>
                <a:lnTo>
                  <a:pt x="0" y="591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348" r="0" b="-635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5538" y="2803322"/>
            <a:ext cx="3323634" cy="39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AI &amp;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5538" y="3371698"/>
            <a:ext cx="7139730" cy="82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Automated diagnostics, predictive analytics, clinical decision support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828227" y="4668888"/>
            <a:ext cx="591588" cy="591588"/>
          </a:xfrm>
          <a:custGeom>
            <a:avLst/>
            <a:gdLst/>
            <a:ahLst/>
            <a:cxnLst/>
            <a:rect r="r" b="b" t="t" l="l"/>
            <a:pathLst>
              <a:path h="591588" w="591588">
                <a:moveTo>
                  <a:pt x="0" y="0"/>
                </a:moveTo>
                <a:lnTo>
                  <a:pt x="591589" y="0"/>
                </a:lnTo>
                <a:lnTo>
                  <a:pt x="591589" y="591589"/>
                </a:lnTo>
                <a:lnTo>
                  <a:pt x="0" y="591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809" t="0" r="-2380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15538" y="4780807"/>
            <a:ext cx="2958255" cy="39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IoT &amp; Cloud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5538" y="5349183"/>
            <a:ext cx="7139730" cy="82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Connected medical devices, remote monitoring, data management platforms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828227" y="6646364"/>
            <a:ext cx="591588" cy="591588"/>
          </a:xfrm>
          <a:custGeom>
            <a:avLst/>
            <a:gdLst/>
            <a:ahLst/>
            <a:cxnLst/>
            <a:rect r="r" b="b" t="t" l="l"/>
            <a:pathLst>
              <a:path h="591588" w="591588">
                <a:moveTo>
                  <a:pt x="0" y="0"/>
                </a:moveTo>
                <a:lnTo>
                  <a:pt x="591589" y="0"/>
                </a:lnTo>
                <a:lnTo>
                  <a:pt x="591589" y="591588"/>
                </a:lnTo>
                <a:lnTo>
                  <a:pt x="0" y="5915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968" r="0" b="-396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15538" y="6758283"/>
            <a:ext cx="2958255" cy="39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Advanced Imaging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5538" y="7326659"/>
            <a:ext cx="7139730" cy="71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Phili</a:t>
            </a: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ps has strong offerings in ultrasound and advanced imaging integrating AI 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732906" y="8459767"/>
            <a:ext cx="591588" cy="591588"/>
          </a:xfrm>
          <a:custGeom>
            <a:avLst/>
            <a:gdLst/>
            <a:ahLst/>
            <a:cxnLst/>
            <a:rect r="r" b="b" t="t" l="l"/>
            <a:pathLst>
              <a:path h="591588" w="591588">
                <a:moveTo>
                  <a:pt x="0" y="0"/>
                </a:moveTo>
                <a:lnTo>
                  <a:pt x="591588" y="0"/>
                </a:lnTo>
                <a:lnTo>
                  <a:pt x="591588" y="591588"/>
                </a:lnTo>
                <a:lnTo>
                  <a:pt x="0" y="591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175" t="0" r="-317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76543" y="8431192"/>
            <a:ext cx="2997251" cy="39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Embedded Systems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6543" y="9002316"/>
            <a:ext cx="7139730" cy="44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Real-time processing, sensor integration, device optimization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2247" y="1943548"/>
            <a:ext cx="4224042" cy="48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Future Expansion Areas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442247" y="2691403"/>
            <a:ext cx="1183186" cy="1458363"/>
          </a:xfrm>
          <a:custGeom>
            <a:avLst/>
            <a:gdLst/>
            <a:ahLst/>
            <a:cxnLst/>
            <a:rect r="r" b="b" t="t" l="l"/>
            <a:pathLst>
              <a:path h="1458363" w="1183186">
                <a:moveTo>
                  <a:pt x="0" y="0"/>
                </a:moveTo>
                <a:lnTo>
                  <a:pt x="1183186" y="0"/>
                </a:lnTo>
                <a:lnTo>
                  <a:pt x="1183186" y="1458363"/>
                </a:lnTo>
                <a:lnTo>
                  <a:pt x="0" y="1458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52" r="0" b="-5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862072" y="2899467"/>
            <a:ext cx="2958255" cy="39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Precision Medicine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62062" y="3353910"/>
            <a:ext cx="6607226" cy="71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Phil</a:t>
            </a: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ips invests in personalized diagnostics and tailored clinical pathways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442247" y="4149776"/>
            <a:ext cx="1183186" cy="1458363"/>
          </a:xfrm>
          <a:custGeom>
            <a:avLst/>
            <a:gdLst/>
            <a:ahLst/>
            <a:cxnLst/>
            <a:rect r="r" b="b" t="t" l="l"/>
            <a:pathLst>
              <a:path h="1458363" w="1183186">
                <a:moveTo>
                  <a:pt x="0" y="0"/>
                </a:moveTo>
                <a:lnTo>
                  <a:pt x="1183186" y="0"/>
                </a:lnTo>
                <a:lnTo>
                  <a:pt x="1183186" y="1458363"/>
                </a:lnTo>
                <a:lnTo>
                  <a:pt x="0" y="14583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2" r="0" b="-52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862072" y="4357840"/>
            <a:ext cx="2958255" cy="39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Robotics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62072" y="4926216"/>
            <a:ext cx="6607226" cy="44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Surgical assistance and automated healthcare workflows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442247" y="5608139"/>
            <a:ext cx="1183186" cy="1458363"/>
          </a:xfrm>
          <a:custGeom>
            <a:avLst/>
            <a:gdLst/>
            <a:ahLst/>
            <a:cxnLst/>
            <a:rect r="r" b="b" t="t" l="l"/>
            <a:pathLst>
              <a:path h="1458363" w="1183186">
                <a:moveTo>
                  <a:pt x="0" y="0"/>
                </a:moveTo>
                <a:lnTo>
                  <a:pt x="1183186" y="0"/>
                </a:lnTo>
                <a:lnTo>
                  <a:pt x="1183186" y="1458363"/>
                </a:lnTo>
                <a:lnTo>
                  <a:pt x="0" y="14583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52" r="0" b="-52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862072" y="5816203"/>
            <a:ext cx="2958255" cy="39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AR/VR Healthcare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62072" y="6384579"/>
            <a:ext cx="6607226" cy="44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Surgical planning and medical training simulations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42247" y="7265937"/>
            <a:ext cx="8027041" cy="82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R&amp;D Investment:</a:t>
            </a: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Philips invests approximately </a:t>
            </a:r>
            <a:r>
              <a:rPr lang="en-US" sz="1812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€2 billion annually</a:t>
            </a: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in research and development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1784" y="583406"/>
            <a:ext cx="9700749" cy="84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Company’s Financials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086350" y="1839112"/>
            <a:ext cx="3848843" cy="2101069"/>
            <a:chOff x="0" y="0"/>
            <a:chExt cx="5131791" cy="280142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13617" y="95250"/>
              <a:ext cx="4704556" cy="1308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39"/>
                </a:lnSpc>
              </a:pPr>
              <a:r>
                <a:rPr lang="en-US" sz="6939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€16.86B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23456" y="1590760"/>
              <a:ext cx="4484688" cy="589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en-US" sz="2625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Annual Revenue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18825"/>
              <a:ext cx="5131791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4"/>
                </a:lnSpc>
              </a:pPr>
              <a:r>
                <a:rPr lang="en-US" sz="2062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2025 sales performance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839112"/>
            <a:ext cx="3848843" cy="2226685"/>
            <a:chOff x="0" y="0"/>
            <a:chExt cx="5131791" cy="296891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77593" y="95250"/>
              <a:ext cx="4376579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37"/>
                </a:lnSpc>
              </a:pPr>
              <a:r>
                <a:rPr lang="en-US" sz="6937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€21.92B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23539" y="1590760"/>
              <a:ext cx="4484688" cy="589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en-US" sz="2625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Market Valuation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18825"/>
              <a:ext cx="5131791" cy="650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4"/>
                </a:lnSpc>
              </a:pPr>
              <a:r>
                <a:rPr lang="en-US" sz="2062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Enterprise value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1839112"/>
            <a:ext cx="3848843" cy="2299249"/>
            <a:chOff x="0" y="0"/>
            <a:chExt cx="5131791" cy="306566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520791" y="95250"/>
              <a:ext cx="2090208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37"/>
                </a:lnSpc>
              </a:pPr>
              <a:r>
                <a:rPr lang="en-US" sz="6937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€2B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23552" y="1692275"/>
              <a:ext cx="4484688" cy="589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en-US" sz="2625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R&amp;D Investment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415578"/>
              <a:ext cx="5131791" cy="650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4"/>
                </a:lnSpc>
              </a:pPr>
              <a:r>
                <a:rPr lang="en-US" sz="2062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Innovation commitment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47727" y="1839112"/>
            <a:ext cx="3851824" cy="2169558"/>
            <a:chOff x="0" y="0"/>
            <a:chExt cx="5135766" cy="289274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3975" y="95250"/>
              <a:ext cx="5131791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37"/>
                </a:lnSpc>
              </a:pPr>
              <a:r>
                <a:rPr lang="en-US" sz="6937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€220M</a:t>
              </a:r>
              <a:r>
                <a:rPr lang="en-US" sz="6937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27527" y="1802009"/>
              <a:ext cx="4484688" cy="557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en-US" sz="2625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Annual Profitability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410145"/>
              <a:ext cx="5131791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4"/>
                </a:lnSpc>
              </a:pPr>
              <a:r>
                <a:rPr lang="en-US" sz="2062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W</a:t>
              </a:r>
              <a:r>
                <a:rPr lang="en-US" sz="2062">
                  <a:solidFill>
                    <a:srgbClr val="E0D6DE"/>
                  </a:solidFill>
                  <a:latin typeface="Noto Sans"/>
                  <a:ea typeface="Noto Sans"/>
                  <a:cs typeface="Noto Sans"/>
                  <a:sym typeface="Noto Sans"/>
                </a:rPr>
                <a:t>orldwide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813154" y="4394749"/>
            <a:ext cx="9069147" cy="142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880" indent="-256440" lvl="1">
              <a:lnSpc>
                <a:spcPts val="3886"/>
              </a:lnSpc>
              <a:buFont typeface="Arial"/>
              <a:buChar char="•"/>
            </a:pPr>
            <a:r>
              <a:rPr lang="en-US" sz="237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Diagnosis &amp; Treatment (Healthcare, mostly B2B/B2G)</a:t>
            </a:r>
          </a:p>
          <a:p>
            <a:pPr algn="l" marL="512880" indent="-256440" lvl="1">
              <a:lnSpc>
                <a:spcPts val="3886"/>
              </a:lnSpc>
              <a:buFont typeface="Arial"/>
              <a:buChar char="•"/>
            </a:pPr>
            <a:r>
              <a:rPr lang="en-US" sz="237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Cooking Appliances (Kitchen devices &amp; solutions, B2C)</a:t>
            </a:r>
          </a:p>
          <a:p>
            <a:pPr algn="l" marL="512880" indent="-256440" lvl="1">
              <a:lnSpc>
                <a:spcPts val="3887"/>
              </a:lnSpc>
              <a:buFont typeface="Arial"/>
              <a:buChar char="•"/>
            </a:pPr>
            <a:r>
              <a:rPr lang="en-US" sz="237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Grooming Products (Consumer products, B2C)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61328" y="6097458"/>
            <a:ext cx="7874051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</a:t>
            </a:r>
            <a:r>
              <a:rPr lang="en-US" sz="20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hilips earns most of its revenue from B2B and B2G customers  hospitals, health systems, and government healthcare making up around ~77% globally and ~86% in India. The consumer (B2C) division contributes a smaller but significant share (~19% globally, ~13% in India) through products like oral care and grooming devices.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05415" y="3224112"/>
            <a:ext cx="9754394" cy="6886119"/>
          </a:xfrm>
          <a:prstGeom prst="rect">
            <a:avLst/>
          </a:prstGeom>
        </p:spPr>
      </p:pic>
      <p:sp>
        <p:nvSpPr>
          <p:cNvPr name="Freeform 22" id="22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11007005" y="4352920"/>
            <a:ext cx="245859" cy="245859"/>
          </a:xfrm>
          <a:custGeom>
            <a:avLst/>
            <a:gdLst/>
            <a:ahLst/>
            <a:cxnLst/>
            <a:rect r="r" b="b" t="t" l="l"/>
            <a:pathLst>
              <a:path h="245859" w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615" t="0" r="-961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8944" y="2394347"/>
            <a:ext cx="3038237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5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Healthcare Providers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68944" y="2711653"/>
            <a:ext cx="4090356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7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Clinics, diagnostic centers, and specialized care facilities worldwide</a:t>
            </a:r>
          </a:p>
        </p:txBody>
      </p:sp>
      <p:sp>
        <p:nvSpPr>
          <p:cNvPr name="Freeform 5" id="5" descr="preencoded.png"/>
          <p:cNvSpPr/>
          <p:nvPr/>
        </p:nvSpPr>
        <p:spPr>
          <a:xfrm flipH="false" flipV="false" rot="0">
            <a:off x="7758939" y="3279287"/>
            <a:ext cx="245859" cy="245859"/>
          </a:xfrm>
          <a:custGeom>
            <a:avLst/>
            <a:gdLst/>
            <a:ahLst/>
            <a:cxnLst/>
            <a:rect r="r" b="b" t="t" l="l"/>
            <a:pathLst>
              <a:path h="245859" w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9615" r="0" b="-961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07501" y="4923155"/>
            <a:ext cx="2603659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5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Direct Consumers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07501" y="5346944"/>
            <a:ext cx="3750237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7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2.5 billion people reached annually through personal health products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7636009" y="5413619"/>
            <a:ext cx="245859" cy="245859"/>
          </a:xfrm>
          <a:custGeom>
            <a:avLst/>
            <a:gdLst/>
            <a:ahLst/>
            <a:cxnLst/>
            <a:rect r="r" b="b" t="t" l="l"/>
            <a:pathLst>
              <a:path h="245859" w="245859">
                <a:moveTo>
                  <a:pt x="0" y="0"/>
                </a:moveTo>
                <a:lnTo>
                  <a:pt x="245860" y="0"/>
                </a:lnTo>
                <a:lnTo>
                  <a:pt x="245860" y="245860"/>
                </a:lnTo>
                <a:lnTo>
                  <a:pt x="0" y="2458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694" t="0" r="-7694" b="0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8917205" y="2551533"/>
            <a:ext cx="226795" cy="226795"/>
          </a:xfrm>
          <a:custGeom>
            <a:avLst/>
            <a:gdLst/>
            <a:ahLst/>
            <a:cxnLst/>
            <a:rect r="r" b="b" t="t" l="l"/>
            <a:pathLst>
              <a:path h="226795" w="226795">
                <a:moveTo>
                  <a:pt x="0" y="0"/>
                </a:moveTo>
                <a:lnTo>
                  <a:pt x="226795" y="0"/>
                </a:lnTo>
                <a:lnTo>
                  <a:pt x="226795" y="226795"/>
                </a:lnTo>
                <a:lnTo>
                  <a:pt x="0" y="2267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21" r="0" b="-192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263725" y="696651"/>
            <a:ext cx="9660270" cy="7312537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75224" y="404365"/>
            <a:ext cx="6961227" cy="77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7"/>
              </a:lnSpc>
            </a:pPr>
            <a:r>
              <a:rPr lang="en-US" sz="4787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Cl</a:t>
            </a:r>
            <a:r>
              <a:rPr lang="en-US" sz="4787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ients &amp; Consumer 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0881" y="2205916"/>
            <a:ext cx="4014430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9"/>
              </a:lnSpc>
            </a:pPr>
            <a:r>
              <a:rPr lang="en-US" sz="25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Hospitals &amp; Health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0881" y="2551356"/>
            <a:ext cx="3931444" cy="105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7"/>
              </a:lnSpc>
            </a:pPr>
            <a:r>
              <a:rPr lang="en-US" sz="17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Over 10,000 hospitals globally use Philips medical equipment and solutions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43500" y="5329198"/>
            <a:ext cx="2125742" cy="46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35"/>
              </a:lnSpc>
            </a:pPr>
            <a:r>
              <a:rPr lang="en-US" sz="27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Global Reach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911" y="5742649"/>
            <a:ext cx="4260413" cy="105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7"/>
              </a:lnSpc>
            </a:pPr>
            <a:r>
              <a:rPr lang="en-US" sz="17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Operations in 100+ countries across North America, Europe, Asia-Pacific, and emerging markets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5224" y="7603484"/>
            <a:ext cx="2607869" cy="37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8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Key Markets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5224" y="8181530"/>
            <a:ext cx="38626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North America (35%)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224" y="8650516"/>
            <a:ext cx="38626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Europe (40%)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5224" y="9119488"/>
            <a:ext cx="38626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Asia-Pacific (20%)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5224" y="9588460"/>
            <a:ext cx="38626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Other regions (5%)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55838" y="7603484"/>
            <a:ext cx="2238946" cy="37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8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Target Segments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55838" y="8181530"/>
            <a:ext cx="35801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Acute care facilities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55838" y="8650516"/>
            <a:ext cx="35801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Home healthcare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55838" y="9119488"/>
            <a:ext cx="35801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Consumer wellness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55838" y="9588460"/>
            <a:ext cx="3580171" cy="34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783" indent="-137891" lvl="1">
              <a:lnSpc>
                <a:spcPts val="3017"/>
              </a:lnSpc>
              <a:buFont typeface="Arial"/>
              <a:buChar char="•"/>
            </a:pPr>
            <a:r>
              <a:rPr lang="en-US" sz="1828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Preventive care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129935" y="6403511"/>
            <a:ext cx="6129365" cy="3708437"/>
          </a:xfrm>
          <a:custGeom>
            <a:avLst/>
            <a:gdLst/>
            <a:ahLst/>
            <a:cxnLst/>
            <a:rect r="r" b="b" t="t" l="l"/>
            <a:pathLst>
              <a:path h="3708437" w="6129365">
                <a:moveTo>
                  <a:pt x="0" y="0"/>
                </a:moveTo>
                <a:lnTo>
                  <a:pt x="6129365" y="0"/>
                </a:lnTo>
                <a:lnTo>
                  <a:pt x="6129365" y="3708437"/>
                </a:lnTo>
                <a:lnTo>
                  <a:pt x="0" y="37084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227" r="0" b="-9097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45754" y="1504798"/>
            <a:ext cx="10338492" cy="1494082"/>
            <a:chOff x="0" y="0"/>
            <a:chExt cx="13784656" cy="1992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545754" y="1485748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5481114" y="1270997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3"/>
                </a:lnTo>
                <a:lnTo>
                  <a:pt x="0" y="467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0623" y="2815462"/>
            <a:ext cx="9988753" cy="33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Salary: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$75K-$145K (entry to senior level)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5754" y="3388519"/>
            <a:ext cx="10338492" cy="1494082"/>
            <a:chOff x="0" y="0"/>
            <a:chExt cx="13784656" cy="19921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545754" y="3369469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5481114" y="3154709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3"/>
                </a:lnTo>
                <a:lnTo>
                  <a:pt x="0" y="467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45754" y="5272240"/>
            <a:ext cx="10338492" cy="1494082"/>
            <a:chOff x="0" y="0"/>
            <a:chExt cx="13784656" cy="19921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545754" y="5253190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17" id="17" descr="preencoded.png"/>
          <p:cNvSpPr/>
          <p:nvPr/>
        </p:nvSpPr>
        <p:spPr>
          <a:xfrm flipH="false" flipV="false" rot="0">
            <a:off x="5481114" y="5038430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3"/>
                </a:lnTo>
                <a:lnTo>
                  <a:pt x="0" y="467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45754" y="7155952"/>
            <a:ext cx="10338492" cy="1494082"/>
            <a:chOff x="0" y="0"/>
            <a:chExt cx="13784656" cy="19921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545754" y="7136902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21" id="21" descr="preencoded.png"/>
          <p:cNvSpPr/>
          <p:nvPr/>
        </p:nvSpPr>
        <p:spPr>
          <a:xfrm flipH="false" flipV="false" rot="0">
            <a:off x="5481114" y="6922141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4"/>
                </a:lnTo>
                <a:lnTo>
                  <a:pt x="0" y="467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45754" y="9032377"/>
            <a:ext cx="10338492" cy="911723"/>
            <a:chOff x="0" y="0"/>
            <a:chExt cx="13784656" cy="12156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84706" cy="1215644"/>
            </a:xfrm>
            <a:custGeom>
              <a:avLst/>
              <a:gdLst/>
              <a:ahLst/>
              <a:cxnLst/>
              <a:rect r="r" b="b" t="t" l="l"/>
              <a:pathLst>
                <a:path h="1215644" w="13784706">
                  <a:moveTo>
                    <a:pt x="0" y="31242"/>
                  </a:moveTo>
                  <a:cubicBezTo>
                    <a:pt x="0" y="13970"/>
                    <a:pt x="13970" y="0"/>
                    <a:pt x="31242" y="0"/>
                  </a:cubicBezTo>
                  <a:lnTo>
                    <a:pt x="13753464" y="0"/>
                  </a:lnTo>
                  <a:cubicBezTo>
                    <a:pt x="13770736" y="0"/>
                    <a:pt x="13784706" y="13970"/>
                    <a:pt x="13784706" y="31242"/>
                  </a:cubicBezTo>
                  <a:lnTo>
                    <a:pt x="13784706" y="1184402"/>
                  </a:lnTo>
                  <a:cubicBezTo>
                    <a:pt x="13784706" y="1201674"/>
                    <a:pt x="13770736" y="1215644"/>
                    <a:pt x="13753464" y="1215644"/>
                  </a:cubicBezTo>
                  <a:lnTo>
                    <a:pt x="31242" y="1215644"/>
                  </a:lnTo>
                  <a:cubicBezTo>
                    <a:pt x="13970" y="1215644"/>
                    <a:pt x="0" y="1201674"/>
                    <a:pt x="0" y="1184402"/>
                  </a:cubicBezTo>
                  <a:close/>
                </a:path>
              </a:pathLst>
            </a:custGeom>
            <a:solidFill>
              <a:srgbClr val="00184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701573" y="9074048"/>
            <a:ext cx="194815" cy="155819"/>
          </a:xfrm>
          <a:custGeom>
            <a:avLst/>
            <a:gdLst/>
            <a:ahLst/>
            <a:cxnLst/>
            <a:rect r="r" b="b" t="t" l="l"/>
            <a:pathLst>
              <a:path h="155819" w="194815">
                <a:moveTo>
                  <a:pt x="0" y="0"/>
                </a:moveTo>
                <a:lnTo>
                  <a:pt x="194815" y="0"/>
                </a:lnTo>
                <a:lnTo>
                  <a:pt x="194815" y="155820"/>
                </a:lnTo>
                <a:lnTo>
                  <a:pt x="0" y="155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" r="0" b="-12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071513" y="2012789"/>
            <a:ext cx="7269452" cy="6184631"/>
          </a:xfrm>
          <a:custGeom>
            <a:avLst/>
            <a:gdLst/>
            <a:ahLst/>
            <a:cxnLst/>
            <a:rect r="r" b="b" t="t" l="l"/>
            <a:pathLst>
              <a:path h="6184631" w="7269452">
                <a:moveTo>
                  <a:pt x="0" y="0"/>
                </a:moveTo>
                <a:lnTo>
                  <a:pt x="7269452" y="0"/>
                </a:lnTo>
                <a:lnTo>
                  <a:pt x="7269452" y="6184631"/>
                </a:lnTo>
                <a:lnTo>
                  <a:pt x="0" y="61846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396" t="0" r="-15204" b="-1682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45754" y="511673"/>
            <a:ext cx="6593562" cy="49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Career Opportunities &amp; Compensation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1464" y="1321298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0623" y="1657004"/>
            <a:ext cx="2787253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Software Engineer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9673" y="2079965"/>
            <a:ext cx="9988753" cy="71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Skills: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C++, Python, Java, embedded systems, cloud platforms, medical device standards (IEC 62304)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21464" y="3205010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0623" y="3476920"/>
            <a:ext cx="2099429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Data Scientist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9198" y="3997498"/>
            <a:ext cx="9988753" cy="33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Skills: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Machine learning, Python, R, TensorFlow, healthcare analytics, statistical modeling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9673" y="4479864"/>
            <a:ext cx="9988753" cy="33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Salary: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$85K-$155K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621464" y="5088731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0623" y="5367490"/>
            <a:ext cx="3140155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Biomedical Engineer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0623" y="5827865"/>
            <a:ext cx="9988753" cy="71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Skills: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Medical device design, regulatory knowledge (FDA, CE), systems engineering, testing protocols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0623" y="6567406"/>
            <a:ext cx="9988753" cy="33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Salary: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$70K-$135K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21464" y="6972452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01573" y="7251202"/>
            <a:ext cx="2592943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Product Manager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0623" y="7668714"/>
            <a:ext cx="9988753" cy="71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Skills: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Healthcare domain knowledge, agile methodologies, stakeholder management, strategic planning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0623" y="8427305"/>
            <a:ext cx="9988753" cy="33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00" b="true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Salary: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$90K-$165K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39238" y="9157321"/>
            <a:ext cx="10054739" cy="5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3"/>
              </a:lnSpc>
            </a:pPr>
            <a:r>
              <a:rPr lang="en-US" sz="138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Additional roles include AI/ML Engineers, Clinical Specialists, Regulatory Affairs, Quality Assurance, Hardware Engineers, and UX Designers with competitive compensation packages including benefits, equity, and growth opportunities.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515583" y="-585261"/>
            <a:ext cx="3088566" cy="1839564"/>
            <a:chOff x="0" y="0"/>
            <a:chExt cx="4118088" cy="245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8102" cy="2452751"/>
            </a:xfrm>
            <a:custGeom>
              <a:avLst/>
              <a:gdLst/>
              <a:ahLst/>
              <a:cxnLst/>
              <a:rect r="r" b="b" t="t" l="l"/>
              <a:pathLst>
                <a:path h="2452751" w="4118102">
                  <a:moveTo>
                    <a:pt x="0" y="0"/>
                  </a:moveTo>
                  <a:lnTo>
                    <a:pt x="4118102" y="0"/>
                  </a:lnTo>
                  <a:lnTo>
                    <a:pt x="2702052" y="2452751"/>
                  </a:lnTo>
                  <a:lnTo>
                    <a:pt x="0" y="89281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5299" y="-808392"/>
            <a:ext cx="1599582" cy="2770557"/>
            <a:chOff x="0" y="0"/>
            <a:chExt cx="2132776" cy="36940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2838" cy="3694049"/>
            </a:xfrm>
            <a:custGeom>
              <a:avLst/>
              <a:gdLst/>
              <a:ahLst/>
              <a:cxnLst/>
              <a:rect r="r" b="b" t="t" l="l"/>
              <a:pathLst>
                <a:path h="3694049" w="2132838">
                  <a:moveTo>
                    <a:pt x="0" y="0"/>
                  </a:moveTo>
                  <a:lnTo>
                    <a:pt x="2132838" y="0"/>
                  </a:lnTo>
                  <a:lnTo>
                    <a:pt x="0" y="3694049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855369" y="8807604"/>
            <a:ext cx="2614410" cy="1759828"/>
            <a:chOff x="0" y="0"/>
            <a:chExt cx="3485880" cy="23464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5896" cy="2346325"/>
            </a:xfrm>
            <a:custGeom>
              <a:avLst/>
              <a:gdLst/>
              <a:ahLst/>
              <a:cxnLst/>
              <a:rect r="r" b="b" t="t" l="l"/>
              <a:pathLst>
                <a:path h="2346325" w="3485896">
                  <a:moveTo>
                    <a:pt x="1354709" y="0"/>
                  </a:moveTo>
                  <a:lnTo>
                    <a:pt x="3485896" y="1230376"/>
                  </a:lnTo>
                  <a:lnTo>
                    <a:pt x="3485896" y="2346325"/>
                  </a:lnTo>
                  <a:lnTo>
                    <a:pt x="0" y="234632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2574" y="8337702"/>
            <a:ext cx="1125427" cy="1949298"/>
            <a:chOff x="0" y="0"/>
            <a:chExt cx="1500570" cy="2599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0632" cy="2599055"/>
            </a:xfrm>
            <a:custGeom>
              <a:avLst/>
              <a:gdLst/>
              <a:ahLst/>
              <a:cxnLst/>
              <a:rect r="r" b="b" t="t" l="l"/>
              <a:pathLst>
                <a:path h="2599055" w="1500632">
                  <a:moveTo>
                    <a:pt x="1500632" y="0"/>
                  </a:moveTo>
                  <a:lnTo>
                    <a:pt x="1500632" y="2599055"/>
                  </a:lnTo>
                  <a:lnTo>
                    <a:pt x="0" y="2599055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70282" y="3666323"/>
            <a:ext cx="3862022" cy="3916855"/>
            <a:chOff x="0" y="0"/>
            <a:chExt cx="5149362" cy="522247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2667199" y="2740316"/>
              <a:ext cx="2475541" cy="2475539"/>
              <a:chOff x="0" y="0"/>
              <a:chExt cx="2980406" cy="298040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80436" cy="2980436"/>
              </a:xfrm>
              <a:custGeom>
                <a:avLst/>
                <a:gdLst/>
                <a:ahLst/>
                <a:cxnLst/>
                <a:rect r="r" b="b" t="t" l="l"/>
                <a:pathLst>
                  <a:path h="2980436" w="2980436">
                    <a:moveTo>
                      <a:pt x="0" y="0"/>
                    </a:moveTo>
                    <a:lnTo>
                      <a:pt x="1781175" y="0"/>
                    </a:lnTo>
                    <a:lnTo>
                      <a:pt x="2980436" y="1199261"/>
                    </a:lnTo>
                    <a:lnTo>
                      <a:pt x="2980436" y="2980436"/>
                    </a:lnTo>
                    <a:lnTo>
                      <a:pt x="1199261" y="2980436"/>
                    </a:lnTo>
                    <a:lnTo>
                      <a:pt x="0" y="17811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3172464" y="3262894"/>
              <a:ext cx="1465011" cy="1430384"/>
            </a:xfrm>
            <a:custGeom>
              <a:avLst/>
              <a:gdLst/>
              <a:ahLst/>
              <a:cxnLst/>
              <a:rect r="r" b="b" t="t" l="l"/>
              <a:pathLst>
                <a:path h="1430384" w="1465011">
                  <a:moveTo>
                    <a:pt x="0" y="0"/>
                  </a:moveTo>
                  <a:lnTo>
                    <a:pt x="1465011" y="0"/>
                  </a:lnTo>
                  <a:lnTo>
                    <a:pt x="1465011" y="1430384"/>
                  </a:lnTo>
                  <a:lnTo>
                    <a:pt x="0" y="1430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2667199" y="0"/>
              <a:ext cx="2482163" cy="2482162"/>
              <a:chOff x="0" y="0"/>
              <a:chExt cx="2980406" cy="298040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980436" cy="2980436"/>
              </a:xfrm>
              <a:custGeom>
                <a:avLst/>
                <a:gdLst/>
                <a:ahLst/>
                <a:cxnLst/>
                <a:rect r="r" b="b" t="t" l="l"/>
                <a:pathLst>
                  <a:path h="2980436" w="2980436">
                    <a:moveTo>
                      <a:pt x="1199261" y="0"/>
                    </a:moveTo>
                    <a:lnTo>
                      <a:pt x="2980436" y="0"/>
                    </a:lnTo>
                    <a:lnTo>
                      <a:pt x="2980436" y="1781175"/>
                    </a:lnTo>
                    <a:lnTo>
                      <a:pt x="1781175" y="2980436"/>
                    </a:lnTo>
                    <a:lnTo>
                      <a:pt x="0" y="2980436"/>
                    </a:lnTo>
                    <a:lnTo>
                      <a:pt x="0" y="119926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3163282" y="523976"/>
              <a:ext cx="1489996" cy="1434210"/>
            </a:xfrm>
            <a:custGeom>
              <a:avLst/>
              <a:gdLst/>
              <a:ahLst/>
              <a:cxnLst/>
              <a:rect r="r" b="b" t="t" l="l"/>
              <a:pathLst>
                <a:path h="1434210" w="1489996">
                  <a:moveTo>
                    <a:pt x="0" y="0"/>
                  </a:moveTo>
                  <a:lnTo>
                    <a:pt x="1489997" y="0"/>
                  </a:lnTo>
                  <a:lnTo>
                    <a:pt x="1489997" y="1434210"/>
                  </a:lnTo>
                  <a:lnTo>
                    <a:pt x="0" y="1434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0" y="2740316"/>
              <a:ext cx="2482159" cy="2482157"/>
              <a:chOff x="0" y="0"/>
              <a:chExt cx="2980406" cy="298040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980436" cy="2980436"/>
              </a:xfrm>
              <a:custGeom>
                <a:avLst/>
                <a:gdLst/>
                <a:ahLst/>
                <a:cxnLst/>
                <a:rect r="r" b="b" t="t" l="l"/>
                <a:pathLst>
                  <a:path h="2980436" w="2980436">
                    <a:moveTo>
                      <a:pt x="1199261" y="0"/>
                    </a:moveTo>
                    <a:lnTo>
                      <a:pt x="2980436" y="0"/>
                    </a:lnTo>
                    <a:lnTo>
                      <a:pt x="2980436" y="1781175"/>
                    </a:lnTo>
                    <a:lnTo>
                      <a:pt x="1781175" y="2980436"/>
                    </a:lnTo>
                    <a:lnTo>
                      <a:pt x="0" y="2980436"/>
                    </a:lnTo>
                    <a:lnTo>
                      <a:pt x="0" y="119926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715638" y="3264291"/>
              <a:ext cx="1050883" cy="1434208"/>
            </a:xfrm>
            <a:custGeom>
              <a:avLst/>
              <a:gdLst/>
              <a:ahLst/>
              <a:cxnLst/>
              <a:rect r="r" b="b" t="t" l="l"/>
              <a:pathLst>
                <a:path h="1434208" w="1050883">
                  <a:moveTo>
                    <a:pt x="0" y="0"/>
                  </a:moveTo>
                  <a:lnTo>
                    <a:pt x="1050883" y="0"/>
                  </a:lnTo>
                  <a:lnTo>
                    <a:pt x="1050883" y="1434208"/>
                  </a:lnTo>
                  <a:lnTo>
                    <a:pt x="0" y="143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0" y="4"/>
              <a:ext cx="2482159" cy="2482157"/>
              <a:chOff x="0" y="0"/>
              <a:chExt cx="2980406" cy="298040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980436" cy="2980436"/>
              </a:xfrm>
              <a:custGeom>
                <a:avLst/>
                <a:gdLst/>
                <a:ahLst/>
                <a:cxnLst/>
                <a:rect r="r" b="b" t="t" l="l"/>
                <a:pathLst>
                  <a:path h="2980436" w="2980436">
                    <a:moveTo>
                      <a:pt x="0" y="0"/>
                    </a:moveTo>
                    <a:lnTo>
                      <a:pt x="1781175" y="0"/>
                    </a:lnTo>
                    <a:lnTo>
                      <a:pt x="2980436" y="1199261"/>
                    </a:lnTo>
                    <a:lnTo>
                      <a:pt x="2980436" y="2980436"/>
                    </a:lnTo>
                    <a:lnTo>
                      <a:pt x="1199261" y="2980436"/>
                    </a:lnTo>
                    <a:lnTo>
                      <a:pt x="0" y="17811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522004" y="523979"/>
              <a:ext cx="1438151" cy="1434208"/>
            </a:xfrm>
            <a:custGeom>
              <a:avLst/>
              <a:gdLst/>
              <a:ahLst/>
              <a:cxnLst/>
              <a:rect r="r" b="b" t="t" l="l"/>
              <a:pathLst>
                <a:path h="1434208" w="1438151">
                  <a:moveTo>
                    <a:pt x="0" y="0"/>
                  </a:moveTo>
                  <a:lnTo>
                    <a:pt x="1438151" y="0"/>
                  </a:lnTo>
                  <a:lnTo>
                    <a:pt x="1438151" y="1434208"/>
                  </a:lnTo>
                  <a:lnTo>
                    <a:pt x="0" y="143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67605" y="1559481"/>
            <a:ext cx="583603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Technical &amp; Core Fundamentals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08" y="2273856"/>
            <a:ext cx="6605069" cy="34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Core CSE Subjects: Master Data Structures &amp; Algorithms (DSA), Object-Oriented Programming (OOP), and Database Management Systems (DBMS).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Programming Proficiency: Achieve fluency in Java (widely used in Philips' enterprise systems) or Python (ideal for AI/Data research).</a:t>
            </a:r>
          </a:p>
          <a:p>
            <a:pPr algn="l">
              <a:lnSpc>
                <a:spcPts val="351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541802" y="6091476"/>
            <a:ext cx="608764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Industry-Relevant Specializations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808" y="6805851"/>
            <a:ext cx="6923634" cy="306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Cloud Computing: AWS/Azure for scalable health solutions.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 &amp; Data Analytics: Improving patient outcomes through predictive modeling.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IoT &amp; Embedded Systems: Critical for medical device integration.</a:t>
            </a:r>
          </a:p>
          <a:p>
            <a:pPr algn="l">
              <a:lnSpc>
                <a:spcPts val="351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099899" y="1559481"/>
            <a:ext cx="357830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Professional Profile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52816" y="2273856"/>
            <a:ext cx="5672472" cy="34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GitHub: A clean repository showcasing your best code and documentation.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LinkedIn: Optimized profile highlighting skills, certifications, and networking with Philips recruiters.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Resume: Quantifiable achievements rather than just a list of duties.</a:t>
            </a:r>
          </a:p>
          <a:p>
            <a:pPr algn="l">
              <a:lnSpc>
                <a:spcPts val="351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3244950" y="6091476"/>
            <a:ext cx="328820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Applied Learning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52816" y="6805851"/>
            <a:ext cx="6075591" cy="2183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Hands-on Projects: Build end-to-end applications that solve real-world problems.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Internships &amp; Hackathons: Gain exposure to agile environments and collaborative coding.</a:t>
            </a:r>
          </a:p>
          <a:p>
            <a:pPr algn="l">
              <a:lnSpc>
                <a:spcPts val="351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3988724" y="70420"/>
            <a:ext cx="10625138" cy="68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Career Roa</a:t>
            </a:r>
            <a:r>
              <a:rPr lang="en-US" b="true" sz="4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dmap: Securing a Role at Philips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35857" y="822505"/>
            <a:ext cx="7930872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Essenti</a:t>
            </a: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Skills and Strategies for Aspiring Engineers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21827" y="597989"/>
            <a:ext cx="8728234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Competitive Landscape &amp; Threats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37595"/>
            <a:ext cx="2804398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Major Competitors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7539" y="2656132"/>
            <a:ext cx="6342612" cy="1738465"/>
            <a:chOff x="0" y="0"/>
            <a:chExt cx="8456816" cy="23179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21613"/>
              <a:ext cx="8418703" cy="2274800"/>
            </a:xfrm>
            <a:custGeom>
              <a:avLst/>
              <a:gdLst/>
              <a:ahLst/>
              <a:cxnLst/>
              <a:rect r="r" b="b" t="t" l="l"/>
              <a:pathLst>
                <a:path h="2274800" w="8418703">
                  <a:moveTo>
                    <a:pt x="0" y="53311"/>
                  </a:moveTo>
                  <a:cubicBezTo>
                    <a:pt x="0" y="23918"/>
                    <a:pt x="21336" y="0"/>
                    <a:pt x="47625" y="0"/>
                  </a:cubicBezTo>
                  <a:lnTo>
                    <a:pt x="8371078" y="0"/>
                  </a:lnTo>
                  <a:cubicBezTo>
                    <a:pt x="8397367" y="0"/>
                    <a:pt x="8418703" y="23918"/>
                    <a:pt x="8418703" y="53311"/>
                  </a:cubicBezTo>
                  <a:lnTo>
                    <a:pt x="8418703" y="2221488"/>
                  </a:lnTo>
                  <a:cubicBezTo>
                    <a:pt x="8418703" y="2250881"/>
                    <a:pt x="8397367" y="2274800"/>
                    <a:pt x="8371078" y="2274800"/>
                  </a:cubicBezTo>
                  <a:lnTo>
                    <a:pt x="47625" y="2274800"/>
                  </a:lnTo>
                  <a:cubicBezTo>
                    <a:pt x="21336" y="2274800"/>
                    <a:pt x="0" y="2250881"/>
                    <a:pt x="0" y="2221488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56803" cy="2318017"/>
            </a:xfrm>
            <a:custGeom>
              <a:avLst/>
              <a:gdLst/>
              <a:ahLst/>
              <a:cxnLst/>
              <a:rect r="r" b="b" t="t" l="l"/>
              <a:pathLst>
                <a:path h="2318017" w="8456803">
                  <a:moveTo>
                    <a:pt x="0" y="74924"/>
                  </a:moveTo>
                  <a:cubicBezTo>
                    <a:pt x="0" y="33283"/>
                    <a:pt x="30099" y="0"/>
                    <a:pt x="66675" y="0"/>
                  </a:cubicBezTo>
                  <a:lnTo>
                    <a:pt x="8390128" y="0"/>
                  </a:lnTo>
                  <a:lnTo>
                    <a:pt x="8390128" y="21613"/>
                  </a:lnTo>
                  <a:lnTo>
                    <a:pt x="8390128" y="0"/>
                  </a:lnTo>
                  <a:cubicBezTo>
                    <a:pt x="8426704" y="0"/>
                    <a:pt x="8456803" y="33283"/>
                    <a:pt x="8456803" y="74924"/>
                  </a:cubicBezTo>
                  <a:lnTo>
                    <a:pt x="8437753" y="74924"/>
                  </a:lnTo>
                  <a:lnTo>
                    <a:pt x="8456803" y="74924"/>
                  </a:lnTo>
                  <a:lnTo>
                    <a:pt x="8456803" y="2243101"/>
                  </a:lnTo>
                  <a:lnTo>
                    <a:pt x="8437753" y="2243101"/>
                  </a:lnTo>
                  <a:lnTo>
                    <a:pt x="8456803" y="2243101"/>
                  </a:lnTo>
                  <a:cubicBezTo>
                    <a:pt x="8456803" y="2284742"/>
                    <a:pt x="8426704" y="2318017"/>
                    <a:pt x="8390128" y="2318017"/>
                  </a:cubicBezTo>
                  <a:lnTo>
                    <a:pt x="8390128" y="2296413"/>
                  </a:lnTo>
                  <a:lnTo>
                    <a:pt x="8390128" y="2318017"/>
                  </a:lnTo>
                  <a:lnTo>
                    <a:pt x="66675" y="2318017"/>
                  </a:lnTo>
                  <a:lnTo>
                    <a:pt x="66675" y="2296413"/>
                  </a:lnTo>
                  <a:lnTo>
                    <a:pt x="66675" y="2318017"/>
                  </a:lnTo>
                  <a:cubicBezTo>
                    <a:pt x="30099" y="2318017"/>
                    <a:pt x="0" y="2284742"/>
                    <a:pt x="0" y="2243101"/>
                  </a:cubicBezTo>
                  <a:lnTo>
                    <a:pt x="0" y="74924"/>
                  </a:lnTo>
                  <a:lnTo>
                    <a:pt x="19050" y="74924"/>
                  </a:lnTo>
                  <a:lnTo>
                    <a:pt x="0" y="74924"/>
                  </a:lnTo>
                  <a:moveTo>
                    <a:pt x="38100" y="74924"/>
                  </a:moveTo>
                  <a:lnTo>
                    <a:pt x="38100" y="2243101"/>
                  </a:lnTo>
                  <a:lnTo>
                    <a:pt x="19050" y="2243101"/>
                  </a:lnTo>
                  <a:lnTo>
                    <a:pt x="38100" y="2243101"/>
                  </a:lnTo>
                  <a:cubicBezTo>
                    <a:pt x="38100" y="2260248"/>
                    <a:pt x="50673" y="2274800"/>
                    <a:pt x="66675" y="2274800"/>
                  </a:cubicBezTo>
                  <a:lnTo>
                    <a:pt x="8390128" y="2274800"/>
                  </a:lnTo>
                  <a:cubicBezTo>
                    <a:pt x="8406130" y="2274800"/>
                    <a:pt x="8418703" y="2260391"/>
                    <a:pt x="8418703" y="2243101"/>
                  </a:cubicBezTo>
                  <a:lnTo>
                    <a:pt x="8418703" y="74924"/>
                  </a:lnTo>
                  <a:cubicBezTo>
                    <a:pt x="8418703" y="57778"/>
                    <a:pt x="8406130" y="43225"/>
                    <a:pt x="8390128" y="43225"/>
                  </a:cubicBezTo>
                  <a:lnTo>
                    <a:pt x="66675" y="43225"/>
                  </a:lnTo>
                  <a:lnTo>
                    <a:pt x="66675" y="21613"/>
                  </a:lnTo>
                  <a:lnTo>
                    <a:pt x="66675" y="43225"/>
                  </a:lnTo>
                  <a:cubicBezTo>
                    <a:pt x="50673" y="43225"/>
                    <a:pt x="38100" y="57634"/>
                    <a:pt x="38100" y="74924"/>
                  </a:cubicBezTo>
                  <a:close/>
                </a:path>
              </a:pathLst>
            </a:custGeom>
            <a:solidFill>
              <a:srgbClr val="3F3F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85107" y="2914650"/>
            <a:ext cx="208323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GE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 Health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ca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5107" y="3468586"/>
            <a:ext cx="5787476" cy="69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Global lead</a:t>
            </a: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er in integrated digital health ecosystems and enterprise software solutions.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7539" y="4578029"/>
            <a:ext cx="6342612" cy="1684220"/>
            <a:chOff x="0" y="0"/>
            <a:chExt cx="8456816" cy="2245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20938"/>
              <a:ext cx="8418703" cy="2203820"/>
            </a:xfrm>
            <a:custGeom>
              <a:avLst/>
              <a:gdLst/>
              <a:ahLst/>
              <a:cxnLst/>
              <a:rect r="r" b="b" t="t" l="l"/>
              <a:pathLst>
                <a:path h="2203820" w="8418703">
                  <a:moveTo>
                    <a:pt x="0" y="51648"/>
                  </a:moveTo>
                  <a:cubicBezTo>
                    <a:pt x="0" y="23172"/>
                    <a:pt x="21336" y="0"/>
                    <a:pt x="47625" y="0"/>
                  </a:cubicBezTo>
                  <a:lnTo>
                    <a:pt x="8371078" y="0"/>
                  </a:lnTo>
                  <a:cubicBezTo>
                    <a:pt x="8397367" y="0"/>
                    <a:pt x="8418703" y="23172"/>
                    <a:pt x="8418703" y="51648"/>
                  </a:cubicBezTo>
                  <a:lnTo>
                    <a:pt x="8418703" y="2152173"/>
                  </a:lnTo>
                  <a:cubicBezTo>
                    <a:pt x="8418703" y="2180648"/>
                    <a:pt x="8397367" y="2203820"/>
                    <a:pt x="8371078" y="2203820"/>
                  </a:cubicBezTo>
                  <a:lnTo>
                    <a:pt x="47625" y="2203820"/>
                  </a:lnTo>
                  <a:cubicBezTo>
                    <a:pt x="21336" y="2203820"/>
                    <a:pt x="0" y="2180648"/>
                    <a:pt x="0" y="2152173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803" cy="2245690"/>
            </a:xfrm>
            <a:custGeom>
              <a:avLst/>
              <a:gdLst/>
              <a:ahLst/>
              <a:cxnLst/>
              <a:rect r="r" b="b" t="t" l="l"/>
              <a:pathLst>
                <a:path h="2245690" w="8456803">
                  <a:moveTo>
                    <a:pt x="0" y="72586"/>
                  </a:moveTo>
                  <a:cubicBezTo>
                    <a:pt x="0" y="32245"/>
                    <a:pt x="30099" y="0"/>
                    <a:pt x="66675" y="0"/>
                  </a:cubicBezTo>
                  <a:lnTo>
                    <a:pt x="8390128" y="0"/>
                  </a:lnTo>
                  <a:lnTo>
                    <a:pt x="8390128" y="20938"/>
                  </a:lnTo>
                  <a:lnTo>
                    <a:pt x="8390128" y="0"/>
                  </a:lnTo>
                  <a:cubicBezTo>
                    <a:pt x="8426704" y="0"/>
                    <a:pt x="8456803" y="32245"/>
                    <a:pt x="8456803" y="72586"/>
                  </a:cubicBezTo>
                  <a:lnTo>
                    <a:pt x="8437753" y="72586"/>
                  </a:lnTo>
                  <a:lnTo>
                    <a:pt x="8456803" y="72586"/>
                  </a:lnTo>
                  <a:lnTo>
                    <a:pt x="8456803" y="2173111"/>
                  </a:lnTo>
                  <a:lnTo>
                    <a:pt x="8437753" y="2173111"/>
                  </a:lnTo>
                  <a:lnTo>
                    <a:pt x="8456803" y="2173111"/>
                  </a:lnTo>
                  <a:cubicBezTo>
                    <a:pt x="8456803" y="2213452"/>
                    <a:pt x="8426704" y="2245690"/>
                    <a:pt x="8390128" y="2245690"/>
                  </a:cubicBezTo>
                  <a:lnTo>
                    <a:pt x="8390128" y="2224758"/>
                  </a:lnTo>
                  <a:lnTo>
                    <a:pt x="8390128" y="2245690"/>
                  </a:lnTo>
                  <a:lnTo>
                    <a:pt x="66675" y="2245690"/>
                  </a:lnTo>
                  <a:lnTo>
                    <a:pt x="66675" y="2224758"/>
                  </a:lnTo>
                  <a:lnTo>
                    <a:pt x="66675" y="2245690"/>
                  </a:lnTo>
                  <a:cubicBezTo>
                    <a:pt x="30099" y="2245690"/>
                    <a:pt x="0" y="2213452"/>
                    <a:pt x="0" y="2173111"/>
                  </a:cubicBezTo>
                  <a:lnTo>
                    <a:pt x="0" y="72586"/>
                  </a:lnTo>
                  <a:lnTo>
                    <a:pt x="19050" y="72586"/>
                  </a:lnTo>
                  <a:lnTo>
                    <a:pt x="0" y="72586"/>
                  </a:lnTo>
                  <a:moveTo>
                    <a:pt x="38100" y="72586"/>
                  </a:moveTo>
                  <a:lnTo>
                    <a:pt x="38100" y="2173111"/>
                  </a:lnTo>
                  <a:lnTo>
                    <a:pt x="19050" y="2173111"/>
                  </a:lnTo>
                  <a:lnTo>
                    <a:pt x="38100" y="2173111"/>
                  </a:lnTo>
                  <a:cubicBezTo>
                    <a:pt x="38100" y="2189722"/>
                    <a:pt x="50673" y="2203820"/>
                    <a:pt x="66675" y="2203820"/>
                  </a:cubicBezTo>
                  <a:lnTo>
                    <a:pt x="8390128" y="2203820"/>
                  </a:lnTo>
                  <a:cubicBezTo>
                    <a:pt x="8406130" y="2203820"/>
                    <a:pt x="8418703" y="2189861"/>
                    <a:pt x="8418703" y="2173111"/>
                  </a:cubicBezTo>
                  <a:lnTo>
                    <a:pt x="8418703" y="72586"/>
                  </a:lnTo>
                  <a:cubicBezTo>
                    <a:pt x="8418703" y="55975"/>
                    <a:pt x="8406130" y="41876"/>
                    <a:pt x="8390128" y="41876"/>
                  </a:cubicBezTo>
                  <a:lnTo>
                    <a:pt x="66675" y="41876"/>
                  </a:lnTo>
                  <a:lnTo>
                    <a:pt x="66675" y="20938"/>
                  </a:lnTo>
                  <a:lnTo>
                    <a:pt x="66675" y="41876"/>
                  </a:lnTo>
                  <a:cubicBezTo>
                    <a:pt x="50673" y="41876"/>
                    <a:pt x="38100" y="55835"/>
                    <a:pt x="38100" y="72586"/>
                  </a:cubicBezTo>
                  <a:close/>
                </a:path>
              </a:pathLst>
            </a:custGeom>
            <a:solidFill>
              <a:srgbClr val="3F3F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85107" y="4653115"/>
            <a:ext cx="31671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Siemens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 Health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in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5107" y="5207051"/>
            <a:ext cx="5787476" cy="69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Industry benchmark for high-precision diagnostic modalities and superior hardware engineering.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56285" y="1937595"/>
            <a:ext cx="167628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New Rivals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6285" y="6182874"/>
            <a:ext cx="324600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Threats &amp; Challenges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972223" y="6443224"/>
            <a:ext cx="4013244" cy="3355023"/>
            <a:chOff x="0" y="0"/>
            <a:chExt cx="9756711" cy="81564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1978" y="76051"/>
              <a:ext cx="9712740" cy="8004642"/>
            </a:xfrm>
            <a:custGeom>
              <a:avLst/>
              <a:gdLst/>
              <a:ahLst/>
              <a:cxnLst/>
              <a:rect r="r" b="b" t="t" l="l"/>
              <a:pathLst>
                <a:path h="8004642" w="9712740">
                  <a:moveTo>
                    <a:pt x="0" y="187593"/>
                  </a:moveTo>
                  <a:cubicBezTo>
                    <a:pt x="0" y="84164"/>
                    <a:pt x="24616" y="0"/>
                    <a:pt x="54946" y="0"/>
                  </a:cubicBezTo>
                  <a:lnTo>
                    <a:pt x="9657795" y="0"/>
                  </a:lnTo>
                  <a:cubicBezTo>
                    <a:pt x="9688125" y="0"/>
                    <a:pt x="9712740" y="84164"/>
                    <a:pt x="9712740" y="187593"/>
                  </a:cubicBezTo>
                  <a:lnTo>
                    <a:pt x="9712740" y="7817050"/>
                  </a:lnTo>
                  <a:cubicBezTo>
                    <a:pt x="9712740" y="7920479"/>
                    <a:pt x="9688125" y="8004643"/>
                    <a:pt x="9657795" y="8004643"/>
                  </a:cubicBezTo>
                  <a:lnTo>
                    <a:pt x="54946" y="8004643"/>
                  </a:lnTo>
                  <a:cubicBezTo>
                    <a:pt x="24616" y="8004643"/>
                    <a:pt x="0" y="7920479"/>
                    <a:pt x="0" y="7817050"/>
                  </a:cubicBezTo>
                  <a:close/>
                </a:path>
              </a:pathLst>
            </a:custGeom>
            <a:blipFill>
              <a:blip r:embed="rId4"/>
              <a:stretch>
                <a:fillRect l="-454" t="-1612" r="0" b="-20277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6697" cy="8156555"/>
            </a:xfrm>
            <a:custGeom>
              <a:avLst/>
              <a:gdLst/>
              <a:ahLst/>
              <a:cxnLst/>
              <a:rect r="r" b="b" t="t" l="l"/>
              <a:pathLst>
                <a:path h="8156555" w="9756697">
                  <a:moveTo>
                    <a:pt x="0" y="263644"/>
                  </a:moveTo>
                  <a:cubicBezTo>
                    <a:pt x="0" y="117119"/>
                    <a:pt x="34726" y="0"/>
                    <a:pt x="76924" y="0"/>
                  </a:cubicBezTo>
                  <a:lnTo>
                    <a:pt x="9679773" y="0"/>
                  </a:lnTo>
                  <a:lnTo>
                    <a:pt x="9679773" y="76051"/>
                  </a:lnTo>
                  <a:lnTo>
                    <a:pt x="9679773" y="0"/>
                  </a:lnTo>
                  <a:cubicBezTo>
                    <a:pt x="9721971" y="0"/>
                    <a:pt x="9756697" y="117119"/>
                    <a:pt x="9756697" y="263644"/>
                  </a:cubicBezTo>
                  <a:lnTo>
                    <a:pt x="9734718" y="263644"/>
                  </a:lnTo>
                  <a:lnTo>
                    <a:pt x="9756697" y="263644"/>
                  </a:lnTo>
                  <a:lnTo>
                    <a:pt x="9756697" y="7893101"/>
                  </a:lnTo>
                  <a:lnTo>
                    <a:pt x="9734718" y="7893101"/>
                  </a:lnTo>
                  <a:lnTo>
                    <a:pt x="9756697" y="7893101"/>
                  </a:lnTo>
                  <a:cubicBezTo>
                    <a:pt x="9756697" y="8039626"/>
                    <a:pt x="9721971" y="8156555"/>
                    <a:pt x="9679773" y="8156555"/>
                  </a:cubicBezTo>
                  <a:lnTo>
                    <a:pt x="9679773" y="8080694"/>
                  </a:lnTo>
                  <a:lnTo>
                    <a:pt x="9679773" y="8156555"/>
                  </a:lnTo>
                  <a:lnTo>
                    <a:pt x="76924" y="8156555"/>
                  </a:lnTo>
                  <a:lnTo>
                    <a:pt x="76924" y="8080694"/>
                  </a:lnTo>
                  <a:lnTo>
                    <a:pt x="76924" y="8156555"/>
                  </a:lnTo>
                  <a:cubicBezTo>
                    <a:pt x="34726" y="8156555"/>
                    <a:pt x="0" y="8039626"/>
                    <a:pt x="0" y="7893101"/>
                  </a:cubicBezTo>
                  <a:lnTo>
                    <a:pt x="0" y="263644"/>
                  </a:lnTo>
                  <a:lnTo>
                    <a:pt x="21978" y="263644"/>
                  </a:lnTo>
                  <a:lnTo>
                    <a:pt x="0" y="263644"/>
                  </a:lnTo>
                  <a:moveTo>
                    <a:pt x="43956" y="263644"/>
                  </a:moveTo>
                  <a:lnTo>
                    <a:pt x="43956" y="7893101"/>
                  </a:lnTo>
                  <a:lnTo>
                    <a:pt x="21978" y="7893101"/>
                  </a:lnTo>
                  <a:lnTo>
                    <a:pt x="43956" y="7893101"/>
                  </a:lnTo>
                  <a:cubicBezTo>
                    <a:pt x="43956" y="7953435"/>
                    <a:pt x="58462" y="8004642"/>
                    <a:pt x="76924" y="8004642"/>
                  </a:cubicBezTo>
                  <a:lnTo>
                    <a:pt x="9679773" y="8004642"/>
                  </a:lnTo>
                  <a:cubicBezTo>
                    <a:pt x="9698234" y="8004642"/>
                    <a:pt x="9712740" y="7953942"/>
                    <a:pt x="9712740" y="7893101"/>
                  </a:cubicBezTo>
                  <a:lnTo>
                    <a:pt x="9712740" y="263644"/>
                  </a:lnTo>
                  <a:cubicBezTo>
                    <a:pt x="9712740" y="203310"/>
                    <a:pt x="9698234" y="152102"/>
                    <a:pt x="9679773" y="152102"/>
                  </a:cubicBezTo>
                  <a:lnTo>
                    <a:pt x="76924" y="152102"/>
                  </a:lnTo>
                  <a:lnTo>
                    <a:pt x="76924" y="76051"/>
                  </a:lnTo>
                  <a:lnTo>
                    <a:pt x="76924" y="152102"/>
                  </a:lnTo>
                  <a:cubicBezTo>
                    <a:pt x="58462" y="152102"/>
                    <a:pt x="43956" y="202803"/>
                    <a:pt x="43956" y="263644"/>
                  </a:cubicBezTo>
                  <a:close/>
                </a:path>
              </a:pathLst>
            </a:custGeom>
            <a:solidFill>
              <a:srgbClr val="3F3F4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456005" y="2656132"/>
            <a:ext cx="9803295" cy="3240992"/>
            <a:chOff x="0" y="0"/>
            <a:chExt cx="8456816" cy="27958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26068"/>
              <a:ext cx="8418703" cy="2743793"/>
            </a:xfrm>
            <a:custGeom>
              <a:avLst/>
              <a:gdLst/>
              <a:ahLst/>
              <a:cxnLst/>
              <a:rect r="r" b="b" t="t" l="l"/>
              <a:pathLst>
                <a:path h="2743793" w="8418703">
                  <a:moveTo>
                    <a:pt x="0" y="64303"/>
                  </a:moveTo>
                  <a:cubicBezTo>
                    <a:pt x="0" y="28850"/>
                    <a:pt x="21336" y="0"/>
                    <a:pt x="47625" y="0"/>
                  </a:cubicBezTo>
                  <a:lnTo>
                    <a:pt x="8371078" y="0"/>
                  </a:lnTo>
                  <a:cubicBezTo>
                    <a:pt x="8397367" y="0"/>
                    <a:pt x="8418703" y="28850"/>
                    <a:pt x="8418703" y="64303"/>
                  </a:cubicBezTo>
                  <a:lnTo>
                    <a:pt x="8418703" y="2679491"/>
                  </a:lnTo>
                  <a:cubicBezTo>
                    <a:pt x="8418703" y="2714944"/>
                    <a:pt x="8397367" y="2743793"/>
                    <a:pt x="8371078" y="2743793"/>
                  </a:cubicBezTo>
                  <a:lnTo>
                    <a:pt x="47625" y="2743793"/>
                  </a:lnTo>
                  <a:cubicBezTo>
                    <a:pt x="21336" y="2743793"/>
                    <a:pt x="0" y="2714944"/>
                    <a:pt x="0" y="2679491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56803" cy="2795906"/>
            </a:xfrm>
            <a:custGeom>
              <a:avLst/>
              <a:gdLst/>
              <a:ahLst/>
              <a:cxnLst/>
              <a:rect r="r" b="b" t="t" l="l"/>
              <a:pathLst>
                <a:path h="2795906" w="8456803">
                  <a:moveTo>
                    <a:pt x="0" y="90371"/>
                  </a:moveTo>
                  <a:cubicBezTo>
                    <a:pt x="0" y="40145"/>
                    <a:pt x="30099" y="0"/>
                    <a:pt x="66675" y="0"/>
                  </a:cubicBezTo>
                  <a:lnTo>
                    <a:pt x="8390128" y="0"/>
                  </a:lnTo>
                  <a:lnTo>
                    <a:pt x="8390128" y="26068"/>
                  </a:lnTo>
                  <a:lnTo>
                    <a:pt x="8390128" y="0"/>
                  </a:lnTo>
                  <a:cubicBezTo>
                    <a:pt x="8426704" y="0"/>
                    <a:pt x="8456803" y="40145"/>
                    <a:pt x="8456803" y="90371"/>
                  </a:cubicBezTo>
                  <a:lnTo>
                    <a:pt x="8437753" y="90371"/>
                  </a:lnTo>
                  <a:lnTo>
                    <a:pt x="8456803" y="90371"/>
                  </a:lnTo>
                  <a:lnTo>
                    <a:pt x="8456803" y="2705559"/>
                  </a:lnTo>
                  <a:lnTo>
                    <a:pt x="8437753" y="2705559"/>
                  </a:lnTo>
                  <a:lnTo>
                    <a:pt x="8456803" y="2705559"/>
                  </a:lnTo>
                  <a:cubicBezTo>
                    <a:pt x="8456803" y="2755784"/>
                    <a:pt x="8426704" y="2795906"/>
                    <a:pt x="8390128" y="2795906"/>
                  </a:cubicBezTo>
                  <a:lnTo>
                    <a:pt x="8390128" y="2769861"/>
                  </a:lnTo>
                  <a:lnTo>
                    <a:pt x="8390128" y="2795906"/>
                  </a:lnTo>
                  <a:lnTo>
                    <a:pt x="66675" y="2795906"/>
                  </a:lnTo>
                  <a:lnTo>
                    <a:pt x="66675" y="2769861"/>
                  </a:lnTo>
                  <a:lnTo>
                    <a:pt x="66675" y="2795906"/>
                  </a:lnTo>
                  <a:cubicBezTo>
                    <a:pt x="30099" y="2795906"/>
                    <a:pt x="0" y="2755784"/>
                    <a:pt x="0" y="2705559"/>
                  </a:cubicBezTo>
                  <a:lnTo>
                    <a:pt x="0" y="90371"/>
                  </a:lnTo>
                  <a:lnTo>
                    <a:pt x="19050" y="90371"/>
                  </a:lnTo>
                  <a:lnTo>
                    <a:pt x="0" y="90371"/>
                  </a:lnTo>
                  <a:moveTo>
                    <a:pt x="38100" y="90371"/>
                  </a:moveTo>
                  <a:lnTo>
                    <a:pt x="38100" y="2705559"/>
                  </a:lnTo>
                  <a:lnTo>
                    <a:pt x="19050" y="2705559"/>
                  </a:lnTo>
                  <a:lnTo>
                    <a:pt x="38100" y="2705559"/>
                  </a:lnTo>
                  <a:cubicBezTo>
                    <a:pt x="38100" y="2726240"/>
                    <a:pt x="50673" y="2743793"/>
                    <a:pt x="66675" y="2743793"/>
                  </a:cubicBezTo>
                  <a:lnTo>
                    <a:pt x="8390128" y="2743793"/>
                  </a:lnTo>
                  <a:cubicBezTo>
                    <a:pt x="8406130" y="2743793"/>
                    <a:pt x="8418703" y="2726414"/>
                    <a:pt x="8418703" y="2705559"/>
                  </a:cubicBezTo>
                  <a:lnTo>
                    <a:pt x="8418703" y="90371"/>
                  </a:lnTo>
                  <a:cubicBezTo>
                    <a:pt x="8418703" y="69690"/>
                    <a:pt x="8406130" y="52137"/>
                    <a:pt x="8390128" y="52137"/>
                  </a:cubicBezTo>
                  <a:lnTo>
                    <a:pt x="66675" y="52137"/>
                  </a:lnTo>
                  <a:lnTo>
                    <a:pt x="66675" y="26068"/>
                  </a:lnTo>
                  <a:lnTo>
                    <a:pt x="66675" y="52137"/>
                  </a:lnTo>
                  <a:cubicBezTo>
                    <a:pt x="50673" y="52137"/>
                    <a:pt x="38100" y="69516"/>
                    <a:pt x="38100" y="90371"/>
                  </a:cubicBezTo>
                  <a:close/>
                </a:path>
              </a:pathLst>
            </a:custGeom>
            <a:solidFill>
              <a:srgbClr val="3F3F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165476" y="4412144"/>
            <a:ext cx="5850635" cy="105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Utilizing specialized machine learning to accelerate diagnostics, offering agile alternatives to established hardware systems.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56285" y="4362687"/>
            <a:ext cx="311574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Small AI Companies 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72032" y="2915376"/>
            <a:ext cx="6244080" cy="105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Leveraging consumer wearables for biometric analytics, directly challenging traditional medical monitoring markets.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56285" y="2914650"/>
            <a:ext cx="287833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Apple &amp; Samsung :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456005" y="6787595"/>
            <a:ext cx="9803295" cy="3010652"/>
            <a:chOff x="0" y="0"/>
            <a:chExt cx="8456816" cy="2597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24216"/>
              <a:ext cx="8418703" cy="2548789"/>
            </a:xfrm>
            <a:custGeom>
              <a:avLst/>
              <a:gdLst/>
              <a:ahLst/>
              <a:cxnLst/>
              <a:rect r="r" b="b" t="t" l="l"/>
              <a:pathLst>
                <a:path h="2548789" w="8418703">
                  <a:moveTo>
                    <a:pt x="0" y="59732"/>
                  </a:moveTo>
                  <a:cubicBezTo>
                    <a:pt x="0" y="26799"/>
                    <a:pt x="21336" y="0"/>
                    <a:pt x="47625" y="0"/>
                  </a:cubicBezTo>
                  <a:lnTo>
                    <a:pt x="8371078" y="0"/>
                  </a:lnTo>
                  <a:cubicBezTo>
                    <a:pt x="8397367" y="0"/>
                    <a:pt x="8418703" y="26799"/>
                    <a:pt x="8418703" y="59732"/>
                  </a:cubicBezTo>
                  <a:lnTo>
                    <a:pt x="8418703" y="2489057"/>
                  </a:lnTo>
                  <a:cubicBezTo>
                    <a:pt x="8418703" y="2521990"/>
                    <a:pt x="8397367" y="2548789"/>
                    <a:pt x="8371078" y="2548789"/>
                  </a:cubicBezTo>
                  <a:lnTo>
                    <a:pt x="47625" y="2548789"/>
                  </a:lnTo>
                  <a:cubicBezTo>
                    <a:pt x="21336" y="2548789"/>
                    <a:pt x="0" y="2521990"/>
                    <a:pt x="0" y="2489057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56803" cy="2597204"/>
            </a:xfrm>
            <a:custGeom>
              <a:avLst/>
              <a:gdLst/>
              <a:ahLst/>
              <a:cxnLst/>
              <a:rect r="r" b="b" t="t" l="l"/>
              <a:pathLst>
                <a:path h="2597204" w="8456803">
                  <a:moveTo>
                    <a:pt x="0" y="83948"/>
                  </a:moveTo>
                  <a:cubicBezTo>
                    <a:pt x="0" y="37292"/>
                    <a:pt x="30099" y="0"/>
                    <a:pt x="66675" y="0"/>
                  </a:cubicBezTo>
                  <a:lnTo>
                    <a:pt x="8390128" y="0"/>
                  </a:lnTo>
                  <a:lnTo>
                    <a:pt x="8390128" y="24216"/>
                  </a:lnTo>
                  <a:lnTo>
                    <a:pt x="8390128" y="0"/>
                  </a:lnTo>
                  <a:cubicBezTo>
                    <a:pt x="8426704" y="0"/>
                    <a:pt x="8456803" y="37292"/>
                    <a:pt x="8456803" y="83948"/>
                  </a:cubicBezTo>
                  <a:lnTo>
                    <a:pt x="8437753" y="83948"/>
                  </a:lnTo>
                  <a:lnTo>
                    <a:pt x="8456803" y="83948"/>
                  </a:lnTo>
                  <a:lnTo>
                    <a:pt x="8456803" y="2513273"/>
                  </a:lnTo>
                  <a:lnTo>
                    <a:pt x="8437753" y="2513273"/>
                  </a:lnTo>
                  <a:lnTo>
                    <a:pt x="8456803" y="2513273"/>
                  </a:lnTo>
                  <a:cubicBezTo>
                    <a:pt x="8456803" y="2559929"/>
                    <a:pt x="8426704" y="2597204"/>
                    <a:pt x="8390128" y="2597204"/>
                  </a:cubicBezTo>
                  <a:lnTo>
                    <a:pt x="8390128" y="2573005"/>
                  </a:lnTo>
                  <a:lnTo>
                    <a:pt x="8390128" y="2597204"/>
                  </a:lnTo>
                  <a:lnTo>
                    <a:pt x="66675" y="2597204"/>
                  </a:lnTo>
                  <a:lnTo>
                    <a:pt x="66675" y="2573005"/>
                  </a:lnTo>
                  <a:lnTo>
                    <a:pt x="66675" y="2597204"/>
                  </a:lnTo>
                  <a:cubicBezTo>
                    <a:pt x="30099" y="2597204"/>
                    <a:pt x="0" y="2559929"/>
                    <a:pt x="0" y="2513273"/>
                  </a:cubicBezTo>
                  <a:lnTo>
                    <a:pt x="0" y="83948"/>
                  </a:lnTo>
                  <a:lnTo>
                    <a:pt x="19050" y="83948"/>
                  </a:lnTo>
                  <a:lnTo>
                    <a:pt x="0" y="83948"/>
                  </a:lnTo>
                  <a:moveTo>
                    <a:pt x="38100" y="83948"/>
                  </a:moveTo>
                  <a:lnTo>
                    <a:pt x="38100" y="2513273"/>
                  </a:lnTo>
                  <a:lnTo>
                    <a:pt x="19050" y="2513273"/>
                  </a:lnTo>
                  <a:lnTo>
                    <a:pt x="38100" y="2513273"/>
                  </a:lnTo>
                  <a:cubicBezTo>
                    <a:pt x="38100" y="2532484"/>
                    <a:pt x="50673" y="2548789"/>
                    <a:pt x="66675" y="2548789"/>
                  </a:cubicBezTo>
                  <a:lnTo>
                    <a:pt x="8390128" y="2548789"/>
                  </a:lnTo>
                  <a:cubicBezTo>
                    <a:pt x="8406130" y="2548789"/>
                    <a:pt x="8418703" y="2532646"/>
                    <a:pt x="8418703" y="2513273"/>
                  </a:cubicBezTo>
                  <a:lnTo>
                    <a:pt x="8418703" y="83948"/>
                  </a:lnTo>
                  <a:cubicBezTo>
                    <a:pt x="8418703" y="64737"/>
                    <a:pt x="8406130" y="48432"/>
                    <a:pt x="8390128" y="48432"/>
                  </a:cubicBezTo>
                  <a:lnTo>
                    <a:pt x="66675" y="48432"/>
                  </a:lnTo>
                  <a:lnTo>
                    <a:pt x="66675" y="24216"/>
                  </a:lnTo>
                  <a:lnTo>
                    <a:pt x="66675" y="48432"/>
                  </a:lnTo>
                  <a:cubicBezTo>
                    <a:pt x="50673" y="48432"/>
                    <a:pt x="38100" y="64575"/>
                    <a:pt x="38100" y="83948"/>
                  </a:cubicBezTo>
                  <a:close/>
                </a:path>
              </a:pathLst>
            </a:custGeom>
            <a:solidFill>
              <a:srgbClr val="3F3F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979289" y="7179014"/>
            <a:ext cx="7036823" cy="69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  <a:spcBef>
                <a:spcPct val="0"/>
              </a:spcBef>
            </a:pP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</a:t>
            </a:r>
            <a:r>
              <a:rPr lang="en-US" sz="1800" strike="noStrike" u="none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emiconductor shortages limiting production capacity for medical systems.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56285" y="7176649"/>
            <a:ext cx="203180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Su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ppl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y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Chain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Constraints 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56285" y="8430729"/>
            <a:ext cx="2117288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Cybersecurit</a:t>
            </a: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y 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Risks 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79289" y="8433094"/>
            <a:ext cx="7036823" cy="69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  <a:spcBef>
                <a:spcPct val="0"/>
              </a:spcBef>
            </a:pPr>
            <a:r>
              <a:rPr lang="en-US" sz="18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Conn</a:t>
            </a:r>
            <a:r>
              <a:rPr lang="en-US" sz="1800" strike="noStrike" u="none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ected medical infrastructure expands vulnerability to data breaches and cyber threats.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523848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45754" y="1504798"/>
            <a:ext cx="10338492" cy="1494082"/>
            <a:chOff x="0" y="0"/>
            <a:chExt cx="13784656" cy="1992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545754" y="1485748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5481114" y="1270997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3"/>
                </a:lnTo>
                <a:lnTo>
                  <a:pt x="0" y="467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45754" y="3388519"/>
            <a:ext cx="10338492" cy="1494082"/>
            <a:chOff x="0" y="0"/>
            <a:chExt cx="13784656" cy="19921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545754" y="3176435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5481114" y="3154709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3"/>
                </a:lnTo>
                <a:lnTo>
                  <a:pt x="0" y="467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45754" y="5272240"/>
            <a:ext cx="10338492" cy="1494082"/>
            <a:chOff x="0" y="0"/>
            <a:chExt cx="13784656" cy="19921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545754" y="4743155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16" id="16" descr="preencoded.png"/>
          <p:cNvSpPr/>
          <p:nvPr/>
        </p:nvSpPr>
        <p:spPr>
          <a:xfrm flipH="false" flipV="false" rot="0">
            <a:off x="5481114" y="5038430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3"/>
                </a:lnTo>
                <a:lnTo>
                  <a:pt x="0" y="467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45754" y="6852047"/>
            <a:ext cx="10338492" cy="1494082"/>
            <a:chOff x="0" y="0"/>
            <a:chExt cx="13784656" cy="19921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545754" y="6586883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2" y="0"/>
                </a:lnTo>
                <a:lnTo>
                  <a:pt x="10338492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Freeform 20" id="20" descr="preencoded.png"/>
          <p:cNvSpPr/>
          <p:nvPr/>
        </p:nvSpPr>
        <p:spPr>
          <a:xfrm flipH="false" flipV="false" rot="0">
            <a:off x="5481114" y="6922141"/>
            <a:ext cx="467763" cy="467763"/>
          </a:xfrm>
          <a:custGeom>
            <a:avLst/>
            <a:gdLst/>
            <a:ahLst/>
            <a:cxnLst/>
            <a:rect r="r" b="b" t="t" l="l"/>
            <a:pathLst>
              <a:path h="467763" w="467763">
                <a:moveTo>
                  <a:pt x="0" y="0"/>
                </a:moveTo>
                <a:lnTo>
                  <a:pt x="467763" y="0"/>
                </a:lnTo>
                <a:lnTo>
                  <a:pt x="467763" y="467764"/>
                </a:lnTo>
                <a:lnTo>
                  <a:pt x="0" y="467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355066" y="2472083"/>
            <a:ext cx="3230118" cy="4114800"/>
          </a:xfrm>
          <a:custGeom>
            <a:avLst/>
            <a:gdLst/>
            <a:ahLst/>
            <a:cxnLst/>
            <a:rect r="r" b="b" t="t" l="l"/>
            <a:pathLst>
              <a:path h="4114800" w="3230118">
                <a:moveTo>
                  <a:pt x="0" y="0"/>
                </a:moveTo>
                <a:lnTo>
                  <a:pt x="3230118" y="0"/>
                </a:lnTo>
                <a:lnTo>
                  <a:pt x="32301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45754" y="511673"/>
            <a:ext cx="3015853" cy="76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5"/>
              </a:lnSpc>
            </a:pPr>
            <a:r>
              <a:rPr lang="en-US" sz="480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21464" y="1321298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5754" y="1694208"/>
            <a:ext cx="930994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Philips has evo</a:t>
            </a: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lved from a lighting company into a global healthcare technology leader focused on meaningful innovation.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21464" y="3205010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5754" y="3572170"/>
            <a:ext cx="8816000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The company leverages adv</a:t>
            </a: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anced technologies, like Ai and Data Science to improve healthcare worldwide 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1464" y="5088731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5754" y="5114925"/>
            <a:ext cx="967196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Philips also emphas</a:t>
            </a: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izes employee well-being, supportive work culture, and a healthy work-life balance, making it an attractive organization for professionals.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21464" y="6972452"/>
            <a:ext cx="187081" cy="3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5754" y="6937772"/>
            <a:ext cx="998765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With continuous innovation and a people-centric approach, </a:t>
            </a: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Philips is well-positioned for sustainable growth and future success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52218" y="8773858"/>
            <a:ext cx="10338492" cy="1494082"/>
            <a:chOff x="0" y="0"/>
            <a:chExt cx="13784656" cy="19921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84707" cy="1992122"/>
            </a:xfrm>
            <a:custGeom>
              <a:avLst/>
              <a:gdLst/>
              <a:ahLst/>
              <a:cxnLst/>
              <a:rect r="r" b="b" t="t" l="l"/>
              <a:pathLst>
                <a:path h="1992122" w="13784707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662788" y="0"/>
                  </a:lnTo>
                  <a:cubicBezTo>
                    <a:pt x="13730098" y="0"/>
                    <a:pt x="13784707" y="54610"/>
                    <a:pt x="13784707" y="121920"/>
                  </a:cubicBezTo>
                  <a:lnTo>
                    <a:pt x="13784707" y="1870202"/>
                  </a:lnTo>
                  <a:cubicBezTo>
                    <a:pt x="13784707" y="1937512"/>
                    <a:pt x="13730098" y="1992122"/>
                    <a:pt x="13662788" y="1992122"/>
                  </a:cubicBezTo>
                  <a:lnTo>
                    <a:pt x="121920" y="1992122"/>
                  </a:lnTo>
                  <a:cubicBezTo>
                    <a:pt x="54610" y="1992122"/>
                    <a:pt x="0" y="1937512"/>
                    <a:pt x="0" y="1870202"/>
                  </a:cubicBez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4" id="34" descr="preencoded.png"/>
          <p:cNvSpPr/>
          <p:nvPr/>
        </p:nvSpPr>
        <p:spPr>
          <a:xfrm flipH="false" flipV="false" rot="0">
            <a:off x="452218" y="8479479"/>
            <a:ext cx="10338492" cy="76200"/>
          </a:xfrm>
          <a:custGeom>
            <a:avLst/>
            <a:gdLst/>
            <a:ahLst/>
            <a:cxnLst/>
            <a:rect r="r" b="b" t="t" l="l"/>
            <a:pathLst>
              <a:path h="76200" w="10338492">
                <a:moveTo>
                  <a:pt x="0" y="0"/>
                </a:moveTo>
                <a:lnTo>
                  <a:pt x="10338493" y="0"/>
                </a:lnTo>
                <a:lnTo>
                  <a:pt x="1033849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25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52218" y="8841429"/>
            <a:ext cx="9987656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Phillips make healthcare  afforable to all people at low cost.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3954335" y="4027833"/>
            <a:ext cx="10151626" cy="215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07"/>
              </a:lnSpc>
            </a:pPr>
            <a:r>
              <a:rPr lang="en-US" sz="13647">
                <a:solidFill>
                  <a:srgbClr val="97B8FF"/>
                </a:solidFill>
                <a:latin typeface="Graduate"/>
                <a:ea typeface="Graduate"/>
                <a:cs typeface="Graduate"/>
                <a:sym typeface="Graduate"/>
              </a:rPr>
              <a:t>Thank You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796681" y="2150859"/>
            <a:ext cx="5413172" cy="28575"/>
          </a:xfrm>
          <a:custGeom>
            <a:avLst/>
            <a:gdLst/>
            <a:ahLst/>
            <a:cxnLst/>
            <a:rect r="r" b="b" t="t" l="l"/>
            <a:pathLst>
              <a:path h="28575" w="5413172">
                <a:moveTo>
                  <a:pt x="0" y="0"/>
                </a:moveTo>
                <a:lnTo>
                  <a:pt x="5413171" y="0"/>
                </a:lnTo>
                <a:lnTo>
                  <a:pt x="541317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" r="0" b="-39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6437414" y="2169614"/>
            <a:ext cx="5413172" cy="28575"/>
          </a:xfrm>
          <a:custGeom>
            <a:avLst/>
            <a:gdLst/>
            <a:ahLst/>
            <a:cxnLst/>
            <a:rect r="r" b="b" t="t" l="l"/>
            <a:pathLst>
              <a:path h="28575" w="5413172">
                <a:moveTo>
                  <a:pt x="0" y="0"/>
                </a:moveTo>
                <a:lnTo>
                  <a:pt x="5413172" y="0"/>
                </a:lnTo>
                <a:lnTo>
                  <a:pt x="5413172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" r="0" b="-39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12078148" y="2169614"/>
            <a:ext cx="5413172" cy="28575"/>
          </a:xfrm>
          <a:custGeom>
            <a:avLst/>
            <a:gdLst/>
            <a:ahLst/>
            <a:cxnLst/>
            <a:rect r="r" b="b" t="t" l="l"/>
            <a:pathLst>
              <a:path h="28575" w="5413172">
                <a:moveTo>
                  <a:pt x="0" y="0"/>
                </a:moveTo>
                <a:lnTo>
                  <a:pt x="5413171" y="0"/>
                </a:lnTo>
                <a:lnTo>
                  <a:pt x="541317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" r="0" b="-39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796681" y="5001073"/>
            <a:ext cx="8233467" cy="28575"/>
          </a:xfrm>
          <a:custGeom>
            <a:avLst/>
            <a:gdLst/>
            <a:ahLst/>
            <a:cxnLst/>
            <a:rect r="r" b="b" t="t" l="l"/>
            <a:pathLst>
              <a:path h="28575" w="8233467">
                <a:moveTo>
                  <a:pt x="0" y="0"/>
                </a:moveTo>
                <a:lnTo>
                  <a:pt x="8233467" y="0"/>
                </a:lnTo>
                <a:lnTo>
                  <a:pt x="8233467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" r="0" b="-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27283" y="394646"/>
            <a:ext cx="690982" cy="880232"/>
          </a:xfrm>
          <a:custGeom>
            <a:avLst/>
            <a:gdLst/>
            <a:ahLst/>
            <a:cxnLst/>
            <a:rect r="r" b="b" t="t" l="l"/>
            <a:pathLst>
              <a:path h="880232" w="690982">
                <a:moveTo>
                  <a:pt x="0" y="0"/>
                </a:moveTo>
                <a:lnTo>
                  <a:pt x="690982" y="0"/>
                </a:lnTo>
                <a:lnTo>
                  <a:pt x="690982" y="880233"/>
                </a:lnTo>
                <a:lnTo>
                  <a:pt x="0" y="880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DAG8z5buwuc</dc:identifier>
  <dcterms:modified xsi:type="dcterms:W3CDTF">2011-08-01T06:04:30Z</dcterms:modified>
  <cp:revision>1</cp:revision>
  <dc:title>Philips-Innovation-That-Matters.pptx</dc:title>
</cp:coreProperties>
</file>